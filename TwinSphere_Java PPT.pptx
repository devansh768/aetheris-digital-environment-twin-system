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a972b3227b4520" /><Relationship Type="http://schemas.openxmlformats.org/officeDocument/2006/relationships/extended-properties" Target="/docProps/app.xml" Id="R465b870ce2f94378" /><Relationship Type="http://schemas.openxmlformats.org/officeDocument/2006/relationships/officeDocument" Target="/ppt/presentation.xml" Id="Rdc919b6da41a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4b049bcd1d494b"/>
  </p:sldMasterIdLst>
  <p:notesMasterIdLst>
    <p:notesMasterId xmlns:r="http://schemas.openxmlformats.org/officeDocument/2006/relationships" r:id="Rab04c46e20f647e6"/>
  </p:notesMasterIdLst>
  <p:sldIdLst>
    <p:sldId xmlns:r="http://schemas.openxmlformats.org/officeDocument/2006/relationships" id="256" r:id="R28ba4afddebd4b1c"/>
    <p:sldId xmlns:r="http://schemas.openxmlformats.org/officeDocument/2006/relationships" id="257" r:id="R2e943bfad41c4207"/>
    <p:sldId xmlns:r="http://schemas.openxmlformats.org/officeDocument/2006/relationships" id="258" r:id="Rab28a4f67ed243c2"/>
    <p:sldId xmlns:r="http://schemas.openxmlformats.org/officeDocument/2006/relationships" id="259" r:id="R1936494d78504795"/>
    <p:sldId xmlns:r="http://schemas.openxmlformats.org/officeDocument/2006/relationships" id="260" r:id="R6ebedf9c227a4d66"/>
    <p:sldId xmlns:r="http://schemas.openxmlformats.org/officeDocument/2006/relationships" id="261" r:id="R249b60c3a75d41d3"/>
    <p:sldId xmlns:r="http://schemas.openxmlformats.org/officeDocument/2006/relationships" id="262" r:id="R5a9139976a704d80"/>
    <p:sldId xmlns:r="http://schemas.openxmlformats.org/officeDocument/2006/relationships" id="263" r:id="R8fb34630f851468a"/>
    <p:sldId xmlns:r="http://schemas.openxmlformats.org/officeDocument/2006/relationships" id="264" r:id="Rd42c58916d2646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7bb7f8ad874b55" /><Relationship Type="http://schemas.openxmlformats.org/officeDocument/2006/relationships/slideMaster" Target="/ppt/slideMasters/slideMaster1.xml" Id="Rd04b049bcd1d494b" /><Relationship Type="http://schemas.openxmlformats.org/officeDocument/2006/relationships/notesMaster" Target="/ppt/notesMasters/notesMaster1.xml" Id="Rab04c46e20f647e6" /><Relationship Type="http://schemas.openxmlformats.org/officeDocument/2006/relationships/presProps" Target="/ppt/presProps.xml" Id="R0a98ae578b1e4e2e" /><Relationship Type="http://schemas.openxmlformats.org/officeDocument/2006/relationships/tableStyles" Target="/ppt/tableStyles.xml" Id="R068ecf7401f74231" /><Relationship Type="http://schemas.openxmlformats.org/officeDocument/2006/relationships/slide" Target="/ppt/slides/slide1.xml" Id="R28ba4afddebd4b1c" /><Relationship Type="http://schemas.openxmlformats.org/officeDocument/2006/relationships/slide" Target="/ppt/slides/slide2.xml" Id="R2e943bfad41c4207" /><Relationship Type="http://schemas.openxmlformats.org/officeDocument/2006/relationships/slide" Target="/ppt/slides/slide3.xml" Id="Rab28a4f67ed243c2" /><Relationship Type="http://schemas.openxmlformats.org/officeDocument/2006/relationships/slide" Target="/ppt/slides/slide4.xml" Id="R1936494d78504795" /><Relationship Type="http://schemas.openxmlformats.org/officeDocument/2006/relationships/slide" Target="/ppt/slides/slide5.xml" Id="R6ebedf9c227a4d66" /><Relationship Type="http://schemas.openxmlformats.org/officeDocument/2006/relationships/slide" Target="/ppt/slides/slide6.xml" Id="R249b60c3a75d41d3" /><Relationship Type="http://schemas.openxmlformats.org/officeDocument/2006/relationships/slide" Target="/ppt/slides/slide7.xml" Id="R5a9139976a704d80" /><Relationship Type="http://schemas.openxmlformats.org/officeDocument/2006/relationships/slide" Target="/ppt/slides/slide8.xml" Id="R8fb34630f851468a" /><Relationship Type="http://schemas.openxmlformats.org/officeDocument/2006/relationships/slide" Target="/ppt/slides/slide9.xml" Id="Rd42c58916d2646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e299b0ab2f49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45988d9d9c48eb" /><Relationship Type="http://schemas.openxmlformats.org/officeDocument/2006/relationships/notesMaster" Target="/ppt/notesMasters/notesMaster1.xml" Id="R970d28a5aea6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41d12f8bc4404a" /><Relationship Type="http://schemas.openxmlformats.org/officeDocument/2006/relationships/notesMaster" Target="/ppt/notesMasters/notesMaster1.xml" Id="Rc2dfa27aa004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ec74e71b2344b4" /><Relationship Type="http://schemas.openxmlformats.org/officeDocument/2006/relationships/notesMaster" Target="/ppt/notesMasters/notesMaster1.xml" Id="Rdec2ec6391844f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ce8bd3e9284bce" /><Relationship Type="http://schemas.openxmlformats.org/officeDocument/2006/relationships/notesMaster" Target="/ppt/notesMasters/notesMaster1.xml" Id="R40483a2992ac4c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5b2c26d24341d5" /><Relationship Type="http://schemas.openxmlformats.org/officeDocument/2006/relationships/notesMaster" Target="/ppt/notesMasters/notesMaster1.xml" Id="Rb568c43316e742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2b9a865c624179" /><Relationship Type="http://schemas.openxmlformats.org/officeDocument/2006/relationships/notesMaster" Target="/ppt/notesMasters/notesMaster1.xml" Id="R272f26976c594b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3c572388854b44" /><Relationship Type="http://schemas.openxmlformats.org/officeDocument/2006/relationships/notesMaster" Target="/ppt/notesMasters/notesMaster1.xml" Id="R1b32e87bbfe340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ab877a89cc4608" /><Relationship Type="http://schemas.openxmlformats.org/officeDocument/2006/relationships/notesMaster" Target="/ppt/notesMasters/notesMaster1.xml" Id="R49ade81ee2da47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0ba9ac2312431f" /><Relationship Type="http://schemas.openxmlformats.org/officeDocument/2006/relationships/notesMaster" Target="/ppt/notesMasters/notesMaster1.xml" Id="R41fc6fed12d2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TwinSphere — AETHERIS, Real-Time 2.5D Digital Environment Twin System. Team members and enrollment numbers, project code, class and academic year, and guide are reproduced from the user-provided reference image. The city graphic is illustrative, not a measured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core value in everyday terms: turn distributed environmental measurements into a local picture people can inspect and act on. The site describes this as a software-based twin with virtual nodes, not deployed physical sensors.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names and descriptions follow the linked AETHERIS site. The Clean Air Score example is a 0–100 EPA-scale dial; the graphic here uses a neutral illustrative value and is not a live reading.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is a conceptual diagram based on the site’s node network and available Air Dispersion, Thermal Map and Radar Proximity views. Metrics listed are those displayed on the site; live values change, so no sample numbers are asserted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site says the Citizen &amp; Public Health Dashboard is designed for citizens, businesses, schools and municipal bodies, translating telemetry into verdicts and practical lifestyle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site offers Heatwave Spike, Emission Spike, Cleansing Storm and Reset Baseline controls. Location pairing supports device GPS/IP, state selection or a preset node. This diagram is explanatory; it does not request or expose device 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labels reflect the linked site: its interface identifies a Spring Boot 3.3.5 REST API, MySQL / in-memory H2, Vercel deployment, backend deployment options, and standalone edge mode. The site describes 60 FPS Canvas fluid simulation; performance is a site claim, not an independently benchmarked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site exposes a citizen dashboard, twin simulation, what-if scenarios, JSON environmental audit and a certified PDF/print audit summary. It markets zero-hardware SaaS and ISO 14001-related reporting. This deck describes site features and does not certify regulatory or ISO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simple mental model: choose a place, understand its environmental signals, inspect the digital twin, then use the guidance or what-if workflow. Website source: https://digital-twin-system-1.vercel.app/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72752850c4a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93497b5fa4279" /><Relationship Type="http://schemas.openxmlformats.org/officeDocument/2006/relationships/slideLayout" Target="/ppt/slideLayouts/slideLayout1.xml" Id="Rad2d328f0964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2d328f0964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60b9e2aee4ae8" /><Relationship Type="http://schemas.openxmlformats.org/officeDocument/2006/relationships/notesSlide" Target="/ppt/notesSlides/notesSlide1.xml" Id="R4886663e7b7b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d9e1ef57b43ca" /><Relationship Type="http://schemas.openxmlformats.org/officeDocument/2006/relationships/notesSlide" Target="/ppt/notesSlides/notesSlide2.xml" Id="R84b1fa76171645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aeb287ddb4355" /><Relationship Type="http://schemas.openxmlformats.org/officeDocument/2006/relationships/notesSlide" Target="/ppt/notesSlides/notesSlide3.xml" Id="R2c74c8b7d26d4e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001a65d0b4c5b" /><Relationship Type="http://schemas.openxmlformats.org/officeDocument/2006/relationships/notesSlide" Target="/ppt/notesSlides/notesSlide4.xml" Id="Rfe05ff14a87144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b6e2190a4422c" /><Relationship Type="http://schemas.openxmlformats.org/officeDocument/2006/relationships/notesSlide" Target="/ppt/notesSlides/notesSlide5.xml" Id="R6f131a79f0ce46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a90fb1e8244b0" /><Relationship Type="http://schemas.openxmlformats.org/officeDocument/2006/relationships/notesSlide" Target="/ppt/notesSlides/notesSlide6.xml" Id="Rf9ce674e207f4d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bc79754254116" /><Relationship Type="http://schemas.openxmlformats.org/officeDocument/2006/relationships/notesSlide" Target="/ppt/notesSlides/notesSlide7.xml" Id="R2cca5630f7b141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fe1cb60d248b8" /><Relationship Type="http://schemas.openxmlformats.org/officeDocument/2006/relationships/notesSlide" Target="/ppt/notesSlides/notesSlide8.xml" Id="R268f3cb70eb741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8f10d32054afd" /><Relationship Type="http://schemas.openxmlformats.org/officeDocument/2006/relationships/notesSlide" Target="/ppt/notesSlides/notesSlide9.xml" Id="R7c3f76a37d7144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AF3F29A-CD7F-4D55-A270-0FA144D1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TwinSphere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C5739-4C7F-46C1-978B-B67FBC3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11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AETHERIS: Real-Time 2.5D Digital Environment</a:t>
            </a:r>
          </a:p>
          <a:p xmlns:a="http://schemas.openxmlformats.org/drawingml/2006/main">
            <a:pPr algn="l">
              <a:defRPr sz="150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Twin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E0FCB-7153-41B7-AEC5-7A26E149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8575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397FB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D130A-3A2A-4BC3-8D72-7118BEFD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PBL2627-AI&amp;DS-A-004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83583-0164-469E-9BA2-EDE511F3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AI&amp;DS-A   •   A.Y. 2026–27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8547E-98BD-4AB3-A001-576AB92B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191250" cy="33718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C5EDD-F0BD-4955-ADFB-E2EE6F14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7BC08-A83E-4986-AFB5-7C2DA18E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RTU ENROLLMENT 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2CA36-068F-4DDC-BFB1-57664538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Devansh Joshi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6DA12-A213-4647-ADEB-0D68AA7F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7FBA"/>
                </a:solidFill>
                <a:latin typeface="Arial"/>
                <a:ea typeface="Arial"/>
                <a:cs typeface="Arial"/>
              </a:rPr>
              <a:t>24E1ARADM40P039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70C02-9C3C-41D9-B0C3-15866B0F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" y="286702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E86DF-0218-43EB-B86C-F13D153F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Devansh Mittal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8D1E0-D57E-4D30-9949-BA6605A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62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7FBA"/>
                </a:solidFill>
                <a:latin typeface="Arial"/>
                <a:ea typeface="Arial"/>
                <a:cs typeface="Arial"/>
              </a:rPr>
              <a:t>24E1ARADM40P041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EE71A-FDBB-47F5-9FEF-3165F41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" y="3352800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EA3D5-CC2F-4B20-8187-429F5F8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Dhruv Jain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E8CAA-3557-4D46-A2BF-98688E13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7FBA"/>
                </a:solidFill>
                <a:latin typeface="Arial"/>
                <a:ea typeface="Arial"/>
                <a:cs typeface="Arial"/>
              </a:rPr>
              <a:t>24E1ARADM40P043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A4C64-C7C1-4986-98DD-608D73D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" y="38385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6FFBE-715D-4C60-BB0A-F60B3275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Garv Kumar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E0215-20EC-481D-871A-29ED04B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7FBA"/>
                </a:solidFill>
                <a:latin typeface="Arial"/>
                <a:ea typeface="Arial"/>
                <a:cs typeface="Arial"/>
              </a:rPr>
              <a:t>24E1ARADM40P049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85DB2-7BCF-4B35-B443-88581457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" y="4324350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C7A61-D136-4853-AE70-5F63BE09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Ishita Sinha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B64BD-04F4-49E0-BD45-910F76EB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96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97FBA"/>
                </a:solidFill>
                <a:latin typeface="Arial"/>
                <a:ea typeface="Arial"/>
                <a:cs typeface="Arial"/>
              </a:rPr>
              <a:t>24E1ARDF40P063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650C0-2068-4E7D-8FBA-D00F4A5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61912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E788D0-2F34-4EBD-968C-5779472E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673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FEFC6-9C88-4237-AAC4-643F2A2A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7150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E362D-C47C-4B15-BF14-5C73C25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007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PROJECT GUIDE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4DCAA-5FD4-4726-BA56-15D9E0D8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7912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Er. Ram Babu Buri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21EBC1-51F0-4647-8804-805E0540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47750"/>
            <a:ext cx="4495800" cy="4629150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10FDD-B1FC-4178-85BD-D5DD5C5D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668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LIVE TWIN 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1B553-1606-4E23-B97F-D5E126DB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38250"/>
            <a:ext cx="15240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397FB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0128A-0B17-4637-A0DB-A94C3BA5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2382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AIR DISPERSION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D352B-67A8-4C95-9401-6B28A12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24750" y="2047875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DC50AB-D9C9-4AEA-AAEF-DBF5F8CB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39150" y="2047875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DB7276-4E77-4B57-B667-A637CFE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53550" y="2047875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684567-509E-4F67-98C6-DAA90F3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267950" y="2047875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DAABB9-298E-4947-AF69-1D3D81D7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82350" y="2047875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AB977-7444-44D3-9E4E-9FB3411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500" y="2190750"/>
            <a:ext cx="395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DF2439-A711-4CC8-91D7-8A54155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500" y="2914650"/>
            <a:ext cx="395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CCEB1B-3A72-4479-9F26-619E7229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500" y="3638550"/>
            <a:ext cx="395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A71F69-D32D-4A7D-B4A5-37D9902B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500" y="4362450"/>
            <a:ext cx="395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2506CE-80EA-46F4-B5F4-ED5CCCAF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476250" cy="933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B14C74-4335-4075-91FA-F655BA10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670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2F5497-FD3F-4F38-A428-E92FF5F5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003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840ED2-0801-476E-89EB-EA1D8AAE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571500" cy="11239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6F6EE1-4BF5-4DD3-967E-D275DC71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6697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0DC6BF-D8E2-4219-85EB-99BC5F6E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003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B91A5C-2099-4205-9BB4-3655CAE8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533400" cy="93345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1A3655-AF68-4C96-80CB-CFDD5000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CA01C0-0BD7-4678-BEBA-B485B2F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337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8EF671-7F84-4017-AB2E-91B0B33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400300"/>
            <a:ext cx="533400" cy="135255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1B9A2E-EA03-432B-B998-63032EA9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05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1C451D-0AF5-4DC9-B96F-983834F4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384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BB4B41-BEA7-4A9F-91A9-C090C3D1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48125"/>
            <a:ext cx="70485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92EE96-D5EC-4961-90F6-B6EA3082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B8D306-C064-4999-933E-4263E6B6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94AFB7-750A-45CB-B648-8BB9F59C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14800"/>
            <a:ext cx="628650" cy="581025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D9F404-635F-47D0-9345-905746F2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2195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76699F-1A80-4C55-86AE-ED93A212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529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86C130-AF7E-4E5C-97B3-C5B9FEC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048125"/>
            <a:ext cx="6286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91AA56-4E5D-4B2B-9E05-AC77B55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52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B8BD70-8393-4078-86C4-873260DD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862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991046-9C13-472B-9D00-B16B7A3D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70346"/>
            <a:ext cx="2000250" cy="126015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787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9F3A99-E809-4571-9009-2EEF5792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62370"/>
            <a:ext cx="1390650" cy="8761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9C6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584B38-4AAB-49B7-9935-2B82D43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8394"/>
            <a:ext cx="800100" cy="50406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AF2FCC-261D-4B32-898A-DA659436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96250" y="3390900"/>
            <a:ext cx="16192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F221F5-0EC2-4A13-B3BD-8B91C75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15500" y="3171825"/>
            <a:ext cx="1209675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44BB63-5C3C-4741-BA24-A6F56987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90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C82F23-4BEB-47EE-8124-437339BA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48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16E2CE-8C90-45F1-9AC6-A66448C7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305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CCF336-5DBB-47C3-962B-8158E371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3623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FD525B-A5FF-4644-A770-24C8D71B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86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3B2643-BBC8-4B5B-A753-1853E293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0AC6EA-4EC3-4470-9DBD-86191643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815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METRO CENTRAL  •  ACTIVE NODE  •  URBAN CORE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544B61-0F5F-4C1B-8903-49FEC3A6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6732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Illustrative view of site capabilities</a:t>
            </a:r>
          </a:p>
        </p:txBody>
      </p:sp>
    </p:spTree>
    <p:extLst>
      <p:ext uri="{BB962C8B-B14F-4D97-AF65-F5344CB8AC3E}">
        <p14:creationId xmlns:p14="http://schemas.microsoft.com/office/powerpoint/2010/main" val="1222723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B307D-B9F8-414C-965D-3AD36026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5841B-70A2-4F45-8A11-514986C2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01 / THE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CEB90-B3C4-4D2B-8CDA-10BF79B0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From scattered readings to a place-based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0DAF8-AA70-4171-B270-0A8273B7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48F9E-A4FE-4717-887C-B845EA0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4A6CD-B76F-47D1-9B6C-6579FE7D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28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16580-1B82-4C7F-8A40-255CABA9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What is the environment</a:t>
            </a:r>
          </a:p>
          <a:p xmlns:a="http://schemas.openxmlformats.org/drawingml/2006/main">
            <a:pPr algn="l">
              <a:defRPr sz="22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like here — right now?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5506F-AC31-49F1-9595-146BBA97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AETHERIS connects each reading to a location, shows it on a navigable twin, and gives the viewer a clear next step.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945E4-C476-4C29-9809-71F43877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2705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148E9-6C51-4DE6-BC9B-96A3A598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1930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D3BE7-C79F-4420-AB7C-D816DE24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7172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604B1-2635-44BC-9AE7-2C3C585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432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Virtual environmental nodes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81ED7-867A-4F68-B69A-9917FB3F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480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AQI • PM2.5 • heat • humidity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9944F-5E4E-4831-AA94-0E2F59A9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2705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CED8C-ED4B-42DA-ADC9-C5DC2670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1930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2D924-D050-46DB-890F-6092E39C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7172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3E810-28FC-4779-A6D2-2A9F220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2.5D map + live telemetry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D6437-AFED-4AD5-98DA-633576B3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Air • thermal • proximity 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475C1-36C3-46B4-9131-ACF2239B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2705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029DC-802C-425F-92C5-6DC3C2F1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719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9C6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9C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1BB52-505E-44B0-8A09-C0D2372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243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F96F1-B1C1-4BD8-8442-D4B08F8D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958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What-if scenarios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082B1-FD38-4CF4-B7B7-327856BD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00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Heatwave • emissions • storm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259D0-5485-4904-9ABC-D713447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00475"/>
            <a:ext cx="2705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FB2DF-B679-4F48-BDDD-3182B7F7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719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7E0F1-C422-425C-AD10-615BB162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A3165-7FC9-46F6-9E96-BE233664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958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Health guidance +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7A5E46-FF64-45CD-948C-06AAA600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00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Citizen verdicts • 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20441-E52B-4DBA-A894-39EBE5E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 software twin: the site describes a zero-physical-sensor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45181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A8F737-25CF-4C97-9416-56C4C232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C0205-0C20-4A0D-8E66-01783FF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02 / WHAT YOU CAN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314E1-10DD-4601-9381-DAFC8ED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Four synchronized modules, one environmental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910A3-EB7C-4E3D-A1BA-FFB605F3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EFF84-F993-4F0E-9E90-C4ED7690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F3061-ECF7-4D48-B035-D11F5470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2571750" cy="30099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88631-278E-438F-A20E-C438E6A2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143125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2915C-9F58-4D52-B68E-0F3D7063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  / 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D784F-B293-4E63-83E1-5982A53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695575"/>
            <a:ext cx="8382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858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49598-80DC-4552-869A-650FE8C5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90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0CF5A-4D25-43AD-98BF-0F389564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58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FB579-E1EA-498A-BD45-3010D61C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Unified login &amp; role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275E9-40B8-4199-92D2-A104952A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Admin • operator • guest citizen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69D81-F710-4A01-9977-F4FD4E39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571750" cy="30099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28DF3-B6BB-461D-A1C2-476706B1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2143125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BD8A0-2291-49F5-BB8C-020B007C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  /  PUBLIC HEALTH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2E9C0-F376-49B4-ADDA-FFA02DE3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895350" cy="895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A6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2C456-2CBD-470F-84A2-FAF40B16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29E1E-6F28-4D81-A6CB-9613A8E0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62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Citizen &amp; health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94015-D410-4E80-8E73-4FA402EC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9577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Clean Air Score • lifestyle verdicts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2D806-0118-48D8-B251-EB2C751F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2571750" cy="30099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5395B-01ED-448B-A190-02FCF567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2143125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0F64E-5ACB-4AF7-93F8-E3C2DB90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  /  TWIN 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97D22-C224-4089-A891-49147FD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70CCA-E326-46B0-B5A6-C0F60D56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33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A539A-8187-4522-B22F-39B5F92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718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B0C2F-E8E7-490B-A76A-CF124570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15200" y="2819400"/>
            <a:ext cx="31432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49460-B71E-4011-803D-238C2D2C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15200" y="3019425"/>
            <a:ext cx="4762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A6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CE332-B2F9-4114-AC1E-5817F6D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Advanced 2.5D simulation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3B3AE5-6ADC-4332-B142-8354B498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Nodes • air • heat • radar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EFB89-6860-4BA6-8F62-730D664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571750" cy="30099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B8367E-1B12-4F2B-959A-38BFBAF5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2143125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B23D4-C187-4518-AE21-047A8222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04  /  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2263BD-7A23-405C-9C85-50FAED58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86050"/>
            <a:ext cx="742950" cy="74295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59C6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657AA-AD4F-4ADE-8D34-71841EE0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67925" y="28860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9C6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13F3BD-C29D-4EF9-BACE-0FEB1D4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67925" y="30384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9C6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3F5FB2-7590-46F6-9728-1E5671D1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67925" y="31908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9C6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BAC4E4-4B87-4CED-98DA-4BF028C3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623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Product &amp; ESG workspace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B03851-4EEF-4673-9DA9-B297739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95775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Audit export • plans • deployment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3A0D6-6FE0-4FEC-9429-58B7CC8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The site describes each module as part of a single synchronized platform.</a:t>
            </a:r>
          </a:p>
        </p:txBody>
      </p:sp>
    </p:spTree>
    <p:extLst>
      <p:ext uri="{BB962C8B-B14F-4D97-AF65-F5344CB8AC3E}">
        <p14:creationId xmlns:p14="http://schemas.microsoft.com/office/powerpoint/2010/main" val="1887855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223879-7595-4FE2-ABA1-5D527387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98A3F-506D-491A-AF93-A9B4E29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03 / THE DIGITAL 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D19EB-8A18-406C-9377-8376A5B7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A city map becomes an environmental instrument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85F27-FD59-448D-B953-6A8E1C38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D53B7-4D6A-4895-8787-786F17F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547B1-39C9-4A3A-A6E1-DC8626AA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3533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85471-3F0A-4D7B-8D08-63DF6911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VIRTUAL TWIN NODES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406E1-CB87-4C3A-9B71-8441AA53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33575"/>
            <a:ext cx="13335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397F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5FA15-C233-479B-929B-49B9782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33575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AIR DISPERSION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E8CFF-48C1-480C-8787-0019968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33575"/>
            <a:ext cx="14287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59C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A8A94-EF90-4CDA-A098-0E409E04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335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59C6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59C60"/>
                </a:solidFill>
                <a:latin typeface="Arial"/>
                <a:ea typeface="Arial"/>
                <a:cs typeface="Arial"/>
              </a:rPr>
              <a:t>THERMAL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90A1C-6A43-4165-BC68-B752A1D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7250" y="24765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68228-50C0-41E4-9C72-D451643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09750" y="24765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F5A9A-B097-4DFD-B501-FBE98CB6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2250" y="24765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6D3BE-1FA4-4C4A-8666-F262140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14750" y="24765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41E0F-03F4-498C-83ED-8113328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67250" y="24765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47A08-315F-4FEA-A322-B8F7054B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19750" y="24765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53010-CED4-40E0-8CD7-7AFF1ABB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2250" y="247650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84A0B-3BE1-4D64-986B-F2D7E3F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" y="260985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D4EF1-CF4C-41BB-9E8B-2B50A37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" y="335280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FB819-EA85-4321-9B32-7DD05E84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" y="409575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AE74F-7D6B-446C-AC0E-584174A3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" y="483870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31940-E1EB-4836-A6D1-B0DF2BFF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552450" cy="7429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0DF41-AB15-40ED-8F0A-92DFDE7A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E2458-8A61-4BF5-BB54-F0CDAD27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52725"/>
            <a:ext cx="714375" cy="11811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453AE6-6EFC-4B3C-8DB2-445DB1A3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67025"/>
            <a:ext cx="561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DC86A-B91D-4411-90DB-DE1A9C25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52775"/>
            <a:ext cx="5715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32FBB-46E6-4F4F-A25F-C1734225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C6597-A1F9-482C-9E53-DE4A5F47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771775"/>
            <a:ext cx="685800" cy="1066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897CEE-0159-4D2A-AFAE-4560A6E0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860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ED0379-876A-41F4-B296-577BAC6C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71825"/>
            <a:ext cx="638175" cy="8382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9D2EC-E4E5-4916-A4C6-34C0612D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86125"/>
            <a:ext cx="485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5915B-D210-4498-9F8A-5B3F7A1F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647700" cy="1209675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2D4C0-43A0-4290-95D5-4082C96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479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DAD2A-8455-4BB3-9F9E-4755ED56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885825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885949-9809-404D-B11A-070F7778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481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4562CF-EA3B-4A82-8837-37F43DD0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10075"/>
            <a:ext cx="876300" cy="56197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1EB287-9DE9-4247-B8F7-218C565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24375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6D7D7B-56AC-4082-8B92-E2A54FB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24350"/>
            <a:ext cx="95250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956E76-2C10-42EA-9597-A1BFB28A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386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F7CBDC-9433-40F8-8741-8B065829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14825"/>
            <a:ext cx="714375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8DA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915F0F-2F15-46DC-8AA9-141C4EE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29125"/>
            <a:ext cx="561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3BCF50-7C40-4318-9D12-A1279012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71825"/>
            <a:ext cx="19050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78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5F622C-D7D3-4A92-9812-4C9853BF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321177"/>
            <a:ext cx="1371600" cy="7680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9C6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BB2697-032D-40B0-B8F4-36A6375E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81197"/>
            <a:ext cx="800100" cy="4480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FCE886-A4D1-405A-90DD-658BB7D4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62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7AEA46-3107-465A-8882-E24FA0EA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1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030A5E-6889-4D60-A53B-085CA10F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B2F41-4E5D-48F4-BDE6-772306BC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D05082-9200-438E-918B-8DF64401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52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388997-033B-49F1-8819-4A28948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356694-5AA3-4DF3-83E6-366F7182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C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AC13C2-2A4F-405F-B53D-72D44AE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52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DFD64B-8AD1-4514-9292-F7A3FDF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149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METRO CENTRAL  •  NORTH RIDGE  •  MUMBAI  •  BENGALURU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2AE257-BF44-4EBE-BE53-971E0264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NODE TELEMETRY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C6E91C-DEC3-459A-8C3A-EA06230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050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Site example metrics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578EA7-804E-4B92-A251-EFA0BA9C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431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A04B3A-1F6E-43C6-BE1B-2B11E57E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193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AIR QUALITY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2BBF9D-338D-4430-959B-DB206DE8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098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8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787A"/>
                </a:solidFill>
                <a:latin typeface="Arial"/>
                <a:ea typeface="Arial"/>
                <a:cs typeface="Arial"/>
              </a:rPr>
              <a:t>AQI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615C5C-80B2-4087-9ED1-4CE5559A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431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E407C3-B4C7-4AB1-94A4-D04A7C35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193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FINE PARTICLES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6AA581-6B57-4EBF-8F38-1F45056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098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PM2.5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D16277-96F2-40FE-BD59-DA226D9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670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D0A21F-BF24-45F5-93FC-97075258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3432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TEMPERATURE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9756D4-A1A3-449D-AAE7-D0665387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337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°C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4C12D9-5293-43EB-A619-811259A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670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4B3CF5-C047-4970-9457-E5B63B6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3432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HUMIDITY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F4A3AD-51A6-4FF5-A19A-9AD2F2FF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337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1A44CF-1423-4A94-9F80-A1D0F697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909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473149-6AAA-4440-85BC-2D63E112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671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CO2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E67188-4C05-4485-9034-AF10D2CF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576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CO₂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237D39-8132-418B-9BA6-FF468A6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909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B6A286-36C9-4252-A494-D174CC34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PARTICLES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94E1BE1-1A49-4F3B-BBBB-FCF67A30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576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PM10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CF5FB3-B26D-4ABA-8AE6-E8C8EEA8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DB92EB-5C90-4E8C-A8AE-CC40333E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910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0027DC-AB54-4B24-8297-A02710BC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815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E8A097-0338-494C-90F5-375AF05B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14875"/>
            <a:ext cx="14859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F4016C-B74A-4EC5-B14F-9B814E8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7910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WIND &amp; UV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273CCC6-F391-482D-93C2-64DE4B2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9815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2BA152-5AB9-46C9-B622-0809F18F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72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Choose a node; switch map modes.</a:t>
            </a:r>
          </a:p>
        </p:txBody>
      </p:sp>
    </p:spTree>
    <p:extLst>
      <p:ext uri="{BB962C8B-B14F-4D97-AF65-F5344CB8AC3E}">
        <p14:creationId xmlns:p14="http://schemas.microsoft.com/office/powerpoint/2010/main" val="2093029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8EE291-AF09-4C26-99C6-FAE46A75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8B4B3-1CCE-40F5-9098-F713449B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04 / FROM DATA TO DAILY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0A6C0-1AE8-4AD8-BC31-F0603C98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Translate environmental signals into clear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858DD-741F-4971-8605-6765DF27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87EA8-6C7F-4B7E-AE07-415289D4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67E0B-5445-4B46-A8A4-0C359AB7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66950"/>
            <a:ext cx="323850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C98AD-FA79-4D83-B67D-D0BA3295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76500"/>
            <a:ext cx="17145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5B9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40EE3-826A-48B5-90AD-52EA60D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765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01  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DCC4D-2F57-4970-9E0B-16AC1FBC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908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Local node readings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BF524-6C08-4F6D-AD84-B3354DEF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433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AQI • PM2.5 • heat</a:t>
            </a:r>
          </a:p>
          <a:p xmlns:a="http://schemas.openxmlformats.org/drawingml/2006/main">
            <a:pPr algn="l">
              <a:defRPr sz="13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humidity • UV •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7093C-0DC6-47A1-9033-047602EA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52875" y="3400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9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C0BAA-1E8E-4EF0-9DE9-4F09828B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B9A6B-51C2-409A-ACAD-3FC24686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66950"/>
            <a:ext cx="323850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BA650-135E-4CC9-A4E0-47F25DE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76500"/>
            <a:ext cx="17145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397F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E57DC-0585-4D91-8D16-EEAF510B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02   INTERPRET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4DA39-0841-4BE5-9AE1-1134382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908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Citizen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69DC4-6311-4942-B502-7B7C1AA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433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Clean Air Score</a:t>
            </a:r>
          </a:p>
          <a:p xmlns:a="http://schemas.openxmlformats.org/drawingml/2006/main">
            <a:pPr algn="l">
              <a:defRPr sz="13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health &amp; trend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18361-EFE8-4681-BB88-642156BD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67625" y="3400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9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3AE1A-8D88-41E1-BBE2-20DBA7F3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4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36F52-0705-4699-806D-3963DE5A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66950"/>
            <a:ext cx="323850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5865A-EFFD-469D-8469-CD2D38A3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76500"/>
            <a:ext cx="17145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68A6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E0831-9005-4518-BBA4-BFDDFD0E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765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03   GUIDE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BDECA-E8B4-4F19-B55B-9EAB005D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908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Lifestyle verdicts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A8983-8E37-437A-845A-0CEFD213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433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Outdoor activity</a:t>
            </a:r>
          </a:p>
          <a:p xmlns:a="http://schemas.openxmlformats.org/drawingml/2006/main">
            <a:pPr algn="l">
              <a:defRPr sz="13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ventilation • sun exposure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FA66F-EA96-4242-8683-8BED2E1C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05375"/>
            <a:ext cx="106299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1A3DE-ACCD-420C-9932-62FCCE58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DCD53-BA62-43E5-8949-2CFDE968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Residents  •  schools  •  businesses  •  municipal teams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F266A-7608-469A-BF3E-210ED953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674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 clear interface connects complex telemetry to a practical next step.</a:t>
            </a:r>
          </a:p>
        </p:txBody>
      </p:sp>
    </p:spTree>
    <p:extLst>
      <p:ext uri="{BB962C8B-B14F-4D97-AF65-F5344CB8AC3E}">
        <p14:creationId xmlns:p14="http://schemas.microsoft.com/office/powerpoint/2010/main" val="898287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DB4D8-2612-4EF9-BDC9-3D87047C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FCD79-A2D9-4461-BABA-13880B8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05 / EXPLORE WHAT COULD HAPPEN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929D9-2288-45B1-A484-88B67D9E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Test a disturbance before it becomes a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4218C-C4FA-435E-8C22-CB0FF0B9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02632-FF37-4A73-8C66-06F71497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A09D9-7E11-4741-9FC9-FE58C712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SCENARIO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8EA9D-D1F8-4447-A5BF-4EE5F020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Change the conditions.</a:t>
            </a:r>
          </a:p>
          <a:p xmlns:a="http://schemas.openxmlformats.org/drawingml/2006/main">
            <a:pPr algn="l">
              <a:defRPr sz="20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Watch the twin respond.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0446E-6310-4562-BF4F-A7D3A477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905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The interface exposes three what-if injections and a reset to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179F7-7C3B-49B5-8A00-549876D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733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78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3A215-F96D-414D-B07B-1CC68DD6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AF112-F55F-42B0-BF15-581F3DCE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862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HEATWAVE SPIKE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B1944-473F-40DE-BFE3-B5A7806D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8622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Thermal gradient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934AF-D8C5-4ABC-B44A-4A80635C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733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59C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99A8C-0E29-4175-9B63-993384FC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C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16386-49C4-4F9E-A705-5E6688AE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29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EMISSION SPIKE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447F7-0375-4815-BC4B-45BAB4A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291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Particulate dispersion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EC9AE-79AA-4FB4-A84D-4C4FC25A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3733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B9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66D8C-822F-4432-8C1D-B3CF750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5A274-47C5-4625-A97F-D4893A78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720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CLEANSING STORM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CC4C7-7869-48FD-89FE-A7F1EF72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72075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Air / weather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7F53C-BECA-450B-B237-33757EF3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19275"/>
            <a:ext cx="63436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FB7E6-42C1-431C-BD32-4F909C63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0383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PAIR A VIEWER TO A NEARBY NODE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6731A-2283-4385-A67E-375E7E5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3E3EB-B6D0-4EB1-8A4B-2EA643B4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33725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A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8E9B9-B0B4-4881-AC48-CFA95E84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1009650" cy="1009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2B8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1BC0E-BFA1-4577-94B7-843111C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A2854-67F2-45E7-BDAC-5A0A8A48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81775" y="3352800"/>
            <a:ext cx="1019175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4674E-006D-47C3-B52B-C505813C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004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EE67A-28A8-4C4A-BDA7-260BE7BA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67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0044E-16FB-4AE1-8C12-578FE578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386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DEVICE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B6F3F-0009-45B6-BC6B-8868B03B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NEAREST NODE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AD7B0E-EADE-458A-85ED-51DC3B51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10540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GPS / IP  •  state selection  •  preset monitoring zone</a:t>
            </a:r>
          </a:p>
        </p:txBody>
      </p:sp>
    </p:spTree>
    <p:extLst>
      <p:ext uri="{BB962C8B-B14F-4D97-AF65-F5344CB8AC3E}">
        <p14:creationId xmlns:p14="http://schemas.microsoft.com/office/powerpoint/2010/main" val="1393165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8CB046-6B37-4B07-BFA8-6281757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D7294-F13F-477D-A4BB-8369972C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06 / HOW IT IS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0B2E0-D222-444D-9309-614DA21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A browser twin connects to a configurable cloud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C2584-8F49-41D0-B270-E9791F50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2BD7C-5D35-4B94-B4AD-9329A12C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7F928-7D1A-47DF-B9BE-0C05696A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7334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69731-AB35-4A01-9617-7C8516BD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286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5B9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116BD-DEE1-4104-93E4-442DD1B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BA79A-6916-48DA-A78B-64685FC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240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WEB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5D18A-7497-4522-8633-B9FEC5B1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6217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AETHERIS site • citizen dashboard • 2.5D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9B02E-9248-4755-8347-BAD800B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249555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74530-6FAD-4D59-ABD8-F6354861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24152-50AA-4AA8-BC49-A792554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7334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02F6D-0DB2-4FF2-8ADD-A9B8C730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28925"/>
            <a:ext cx="4286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397F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F54A5-891D-4EB7-814D-026B8937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2892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79D80-672A-4291-87F2-47672AD2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908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SPATIAL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045BC-782B-4FE7-98F5-0C1812E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Virtual nodes • Haversine proximity radar • scenarios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E2EB8-4AC2-4C1B-999B-39836C5E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3362325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2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276D0-D470-4ABA-AC0C-321ED7B9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F89B0-80EC-447D-9FB0-D194EC77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7334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FCD7E-485A-4959-BC8B-A38F6D28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286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68A6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4654E-1EEB-43EC-A089-4B605AB2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DA01E-25B6-4289-9562-943076DC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576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REST 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99F14-F649-41EF-86F1-02135AE4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957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Spring Boot 3.3.5 • environmental and audit endpoints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FBDA3-1255-449F-B948-2663C2A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95375" y="42291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2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36887-A4E7-4A8E-BB8F-8084E3C1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4909C-3830-4152-B46C-1EAD268D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7334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E8D65-A128-47E1-83FC-7A425DD4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428625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C59C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5BD7F-47AF-42F8-85B8-CD085AB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59C6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59C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0F121-875E-43AA-B043-0AC3AA44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243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DATA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D782F-DC8D-4F23-A7DA-60660DF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MySQL or in-memory H2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B3A7E-ECFE-403F-9923-CAE784DD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85750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015286-DA29-413A-84E0-8DD504E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6217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DEPLOYMENT SHAPE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3BD99C-5360-4FC8-9F86-201C429C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0325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48BC78-7146-407E-B4A5-C63317B8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003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68EC9A-D5C1-4D68-9D15-8A6FF8E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86800" y="29241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3D4607-7900-45A5-ACD5-1B2CCA56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CC408C-959B-4405-9CB8-33E767ED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86100"/>
            <a:ext cx="1295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Cloud / local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47969-9C56-4105-B87C-1D60B223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86800" y="34099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3E4248-9E0A-4B02-B7C4-1C628564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114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77DAF1-D64F-4F2A-96D7-569F5F7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81400"/>
            <a:ext cx="1200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59C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9C60"/>
                </a:solidFill>
                <a:latin typeface="Arial"/>
                <a:ea typeface="Arial"/>
                <a:cs typeface="Arial"/>
              </a:rPr>
              <a:t>Edge mode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C48782-7C06-4340-8BCF-76586C0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4342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The website presents a software-only twin; no physical sensor hardware is required by its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041940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953038-B068-4937-B2F8-177DC766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98FFC-4E8F-436A-87B1-F79FBBEC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07 / OUTPUTS AND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3B080-F41E-4A4A-AE57-B17DC846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One platform serves people and operational teams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712ED-1A59-4873-A040-1C6281D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76CDA-42E7-410D-9530-4E215D8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191AE-23CF-4C5A-B132-888A5BF1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657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7BD1-90CD-4202-823A-2D1C26CC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D4A5F-D2FD-42E1-A970-7D16F3B8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24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CITIZEN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8D2A2-E7F1-40C0-8A66-0C634101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2405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Clean Air Score • health verdicts • daily guidance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CDB22-2F31-465F-AC43-5BC1EBF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657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74009-58F0-4905-8EAD-C66A720C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62530-6DA3-46E5-A288-6BA9CA77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90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TWIN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2D67A-7DC4-4E80-9A0C-262C5A2E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908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Live node map • air / thermal / radar modes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4603D-0004-408E-8163-7ADA75B1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657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5F052-A7D3-4113-BBAF-95C9CCCC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C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ABBEA-55E4-4B3D-9947-0BFDEB3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9C6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9C60"/>
                </a:solidFill>
                <a:latin typeface="Arial"/>
                <a:ea typeface="Arial"/>
                <a:cs typeface="Arial"/>
              </a:rPr>
              <a:t>SCENARIO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31CB9-3D3C-4A38-97F5-2264D039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5760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Heat, emissions or storm what-if injection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56CA8-6B76-4185-854C-CB856168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657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B2772-2BE2-4658-8E0F-2C6F3B0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5B584-6C25-4910-B329-5691D1CB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243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6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6B8"/>
                </a:solidFill>
                <a:latin typeface="Arial"/>
                <a:ea typeface="Arial"/>
                <a:cs typeface="Arial"/>
              </a:rPr>
              <a:t>AUDIT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C6522-0C56-4398-97CD-8C6878A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52437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Environmental summary • JSON • certified PDF / print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D3086-0BE8-4DDF-947D-22F21884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847850"/>
            <a:ext cx="35433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774AA-EC84-4AF9-944A-E29B4C75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955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WHO IT HELPS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68B47-D2CB-48B6-B492-245E3F3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717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Residents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F3FE2-636D-434F-A7A2-163594AE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77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Understand local exposure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35806-C84F-4D11-8473-620494C4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4325" y="3038475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9ABEA-3596-431E-970B-DB513972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432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Schools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239D2-4FF6-40C6-AB7E-34AABAE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177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Make outdoor activity choices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F3ED9-4943-4E7D-80E9-ECFD0340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4325" y="3609975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630ED-CFD9-4E27-9310-B4E8BAE1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7147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Businesses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A322AA-91E9-4C30-BED5-DE5D5F3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177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Review site conditions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AFC74-826D-4F06-91E1-59A90762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4325" y="4181475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2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C8CB2-8B5E-499B-9D54-D6C17F38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862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City teams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DCCAB0-F274-473F-BAE3-578A78A6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177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Explore conditions and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15F86D-FEE9-4FCD-9DAF-E4AF54DA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29250"/>
            <a:ext cx="177165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5B9D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0CFDC-CFF5-4E30-BC65-46AF7CD1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ZERO-HARDWARE SAAS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1BCF51-5362-40AB-8101-542FBA16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29250"/>
            <a:ext cx="15240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12383">
            <a:solidFill>
              <a:srgbClr val="8586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E8C0F-1027-4B80-88DA-416B8572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4292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86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586B8"/>
                </a:solidFill>
                <a:latin typeface="Arial"/>
                <a:ea typeface="Arial"/>
                <a:cs typeface="Arial"/>
              </a:rPr>
              <a:t>ISO 14001 AUDIT WORKFLOW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ACFE99-880A-4FB0-88DF-77D9A89C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AETHERIS connects local environmental intelligence to health context, exploration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838377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71C2C5-D877-426F-9167-A99BDD31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AETHERIS TWIN   /   EARTH INTELLIGENCE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8E709-9A94-451F-A012-10179828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08 / REMEMBER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44B00-12D4-4BF7-A8B9-EA154F34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AETHERIS is the map, the signals and the “what if?”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C1FE0-D043-41F7-8267-2F40070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73E45-71BE-421B-A717-BA042591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C9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ADEAC-827E-42A7-9DF2-7AF0D765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71725"/>
            <a:ext cx="23622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BD906-DDF1-4427-9F6B-671C92C6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81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AB8FC-E18B-4F1B-B317-E0CABD32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00325"/>
            <a:ext cx="21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EF5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EF5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E7C50-9F54-4D99-B84A-0719D821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57525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76B45-0712-4C00-9563-EF076177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38525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Choose a city 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66CCA-1684-44EB-81F3-8ED63BDC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19425" y="32099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5C949-22C0-4D58-9D80-46031E0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2B8F5-C90D-49DC-AA28-069AE8B7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71725"/>
            <a:ext cx="23622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4591C-94F1-4B47-9B93-AF81BA20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81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55E0A-E8E9-4429-82E4-8D0511D1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0325"/>
            <a:ext cx="21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EF5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EF5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99B97-A6CF-4D64-873E-FCD58699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57525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FB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FBA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EFC63-B7FC-4681-8733-9DD1132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38525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Read its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0DBA8-4650-4A83-B791-474E3B14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10250" y="32099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02A90-5B26-4DB1-A6E9-45DE55C8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2D4FA-B15A-4F68-BA22-B3BE9F65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71725"/>
            <a:ext cx="23622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F15DF-2FDA-455D-BC9D-5682651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81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5B9AF-C898-451E-B728-DD5CA05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0325"/>
            <a:ext cx="21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EF5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EF5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B7527-8CDF-4FA6-BDB4-6B2340D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57525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A6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8A6A8"/>
                </a:solidFill>
                <a:latin typeface="Arial"/>
                <a:ea typeface="Arial"/>
                <a:cs typeface="Arial"/>
              </a:rPr>
              <a:t>TWIN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B02DB-FB40-40C2-8E6B-9C26AE88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38525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See it spatially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AA39D0-C541-452C-ABEC-0F611C0F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01075" y="32099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9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D1E1E-D9D0-4814-9AC7-D7F985EA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533920-EECF-4323-888E-AF38E854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71725"/>
            <a:ext cx="23622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E2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6A695-72A7-4FEE-829F-A06143A7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81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C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AF894-B78C-4F1B-9D95-E6C7B53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0325"/>
            <a:ext cx="21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EF5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EF5F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E0F2D7-9574-469F-BA94-8F653FAB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57525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9C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9C60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18E26-A644-401E-98E8-16A5439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38525"/>
            <a:ext cx="1924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B53"/>
                </a:solidFill>
                <a:latin typeface="Arial"/>
                <a:ea typeface="Arial"/>
                <a:cs typeface="Arial"/>
              </a:rPr>
              <a:t>Guide or test a response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E107A8-A6FE-4589-9B4A-7912DBF9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63B5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B53"/>
                </a:solidFill>
                <a:latin typeface="Arial"/>
                <a:ea typeface="Arial"/>
                <a:cs typeface="Arial"/>
              </a:rPr>
              <a:t>A live environmental picture of a place — understandable to a first-time viewer.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E24A95-601D-4E58-B53E-06FFB6D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9DD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9DD3"/>
                </a:solidFill>
                <a:latin typeface="Arial"/>
                <a:ea typeface="Arial"/>
                <a:cs typeface="Arial"/>
              </a:rPr>
              <a:t>Explore the product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043FC6-FD81-49A8-8C9E-CDED161E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C9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C96"/>
                </a:solidFill>
                <a:latin typeface="Arial"/>
                <a:ea typeface="Arial"/>
                <a:cs typeface="Arial"/>
              </a:rPr>
              <a:t>digital-twin-system-1.vercel.app</a:t>
            </a:r>
          </a:p>
        </p:txBody>
      </p:sp>
    </p:spTree>
    <p:extLst>
      <p:ext uri="{BB962C8B-B14F-4D97-AF65-F5344CB8AC3E}">
        <p14:creationId xmlns:p14="http://schemas.microsoft.com/office/powerpoint/2010/main" val="1904856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2026-10-11T19:07:12.3200000Z</dcterms:created>
  <dcterms:modified xsi:type="dcterms:W3CDTF">2026-10-11T19:07:12.3200000Z</dcterms:modified>
</coreProperties>
</file>